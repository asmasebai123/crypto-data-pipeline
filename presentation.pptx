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Crypto Data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0D4FF"/>
                </a:solidFill>
              </a:defRPr>
            </a:pPr>
            <a:r>
              <a:t>Architecture Data Engineering End-to-End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F5F5F5"/>
                </a:solidFill>
              </a:defRPr>
            </a:pPr>
            <a:r>
              <a:t>Asma Sebai | ING2 - Semestre 2 | Avril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Contexte et Problématique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5A82"/>
                </a:solidFill>
              </a:defRPr>
            </a:pPr>
            <a:r>
              <a:t>Le Problème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7955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</a:defRPr>
            </a:pPr>
            <a:r>
              <a:t>📊 Marché crypto volatil 24h/24 ($billions/jour)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7955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</a:defRPr>
            </a:pPr>
            <a:r>
              <a:t>⚠️  Besoin d'analyse en temps réel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7955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</a:defRPr>
            </a:pPr>
            <a:r>
              <a:t>🔄 Intégration sources hétérogènes (API, Kafka)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88920"/>
            <a:ext cx="7955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</a:defRPr>
            </a:pPr>
            <a:r>
              <a:t>💾 Stockage et transformation complexe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00400"/>
            <a:ext cx="7955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</a:defRPr>
            </a:pPr>
            <a:r>
              <a:t>📈 Visualisation accessible décideurs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1005840"/>
            <a:ext cx="3931920" cy="2743200"/>
          </a:xfrm>
          <a:prstGeom prst="rect">
            <a:avLst/>
          </a:prstGeom>
          <a:solidFill>
            <a:srgbClr val="1C7293"/>
          </a:solidFill>
          <a:ln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OBJECTIFS</a:t>
            </a:r>
            <a:br/>
            <a:br/>
            <a:r>
              <a:t>✓ Pipeline ETL</a:t>
            </a:r>
            <a:br/>
            <a:r>
              <a:t>✓ Dual-Engine Pandas/Spark</a:t>
            </a:r>
            <a:br/>
            <a:r>
              <a:t>✓ Dashboard production</a:t>
            </a:r>
            <a:br/>
            <a:r>
              <a:t>✓ Cloud 24/7</a:t>
            </a:r>
            <a:br/>
            <a:r>
              <a:t>✓ Analyses temps réel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Architecture Globale du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solidFill>
            <a:srgbClr val="00D4FF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70432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solidFill>
            <a:srgbClr val="1C7293"/>
          </a:solidFill>
          <a:ln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10512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INGESTION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solidFill>
            <a:srgbClr val="065A82"/>
          </a:solidFill>
          <a:ln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450592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STOCKAGE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solidFill>
            <a:srgbClr val="1C7293"/>
          </a:solidFill>
          <a:ln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090672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TRANSFORMATION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solidFill>
            <a:srgbClr val="00D4FF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30752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ORCHESTRATION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solidFill>
            <a:srgbClr val="065A82"/>
          </a:solidFill>
          <a:ln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370832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VISUALISATION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11887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CoinGecko + Kafka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1828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Batch + Streaming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468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Neon PostgreSQL Cloud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108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Pandas + PySpark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74903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Prefect + Railway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3891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Streamlit Cloud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Étape 1: Ingestion Batch (CoinGecko API)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</a:defRPr>
            </a:pPr>
            <a:r>
              <a:t>Source: API REST publique CoinGecko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</a:defRPr>
            </a:pPr>
            <a:r>
              <a:t>⏱️ Fréquence: Toutes les 10 minutes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</a:defRPr>
            </a:pPr>
            <a:r>
              <a:t>📝 Données: Prix, Volume, Variation 24h, Market Cap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</a:defRPr>
            </a:pPr>
            <a:r>
              <a:t>🪙 Cryptos: Bitcoin, Ethereum, Solana, XRP, BNB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solidFill>
            <a:srgbClr val="F0F0F0"/>
          </a:solidFill>
          <a:ln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60" y="1280160"/>
            <a:ext cx="35661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</a:defRPr>
            </a:pPr>
            <a:r>
              <a:t>GET /api/v3/coins/markets</a:t>
            </a:r>
            <a:br/>
            <a:br/>
            <a:r>
              <a:t>Response:</a:t>
            </a:r>
            <a:br/>
            <a:r>
              <a:t>{</a:t>
            </a:r>
            <a:br/>
            <a:r>
              <a:t>  "id": "bitcoin",</a:t>
            </a:r>
            <a:br/>
            <a:r>
              <a:t>  "current_price": 70970.00,</a:t>
            </a:r>
            <a:br/>
            <a:r>
              <a:t>  "market_cap": 1.2T,</a:t>
            </a:r>
            <a:br/>
            <a:r>
              <a:t>  "volume_24h": 29.6B,</a:t>
            </a:r>
            <a:br/>
            <a:r>
              <a:t>  "price_change_24h": -2.84%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Étape 2: Ingestion Streaming (Kafka)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5A82"/>
                </a:solidFill>
              </a:defRPr>
            </a:pPr>
            <a:r>
              <a:t>Architecture Kafka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828800" cy="914400"/>
          </a:xfrm>
          <a:prstGeom prst="rect">
            <a:avLst/>
          </a:prstGeom>
          <a:solidFill>
            <a:srgbClr val="1C7293"/>
          </a:solidFill>
          <a:ln w="25400"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Producer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1645920"/>
            <a:ext cx="1828800" cy="914400"/>
          </a:xfrm>
          <a:prstGeom prst="rect">
            <a:avLst/>
          </a:prstGeom>
          <a:solidFill>
            <a:srgbClr val="00D4FF"/>
          </a:solidFill>
          <a:ln w="25400"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Topic</a:t>
            </a:r>
            <a:br/>
            <a:r>
              <a:t>crypto_prices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0" y="1645920"/>
            <a:ext cx="1828800" cy="914400"/>
          </a:xfrm>
          <a:prstGeom prst="rect">
            <a:avLst/>
          </a:prstGeom>
          <a:solidFill>
            <a:srgbClr val="1C7293"/>
          </a:solidFill>
          <a:ln w="25400"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Consumer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26080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</a:defRPr>
            </a:pPr>
            <a:r>
              <a:t>✓ Flux temps réel 5 secondes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337560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</a:defRPr>
            </a:pPr>
            <a:r>
              <a:t>✓ Données simulées (volumes croissants)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749040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</a:defRPr>
            </a:pPr>
            <a:r>
              <a:t>✓ Infrastructure scalable pour production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160520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</a:defRPr>
            </a:pPr>
            <a:r>
              <a:t>✓ Permet ajout WebSocket futures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Étape 3: Stockage (PostgreSQL Neon Cloud)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2926080" cy="320040"/>
          </a:xfrm>
          <a:prstGeom prst="rect">
            <a:avLst/>
          </a:prstGeom>
          <a:solidFill>
            <a:srgbClr val="1C7293"/>
          </a:solidFill>
          <a:ln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raw_crypto_prices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0" y="129844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Données brutes batch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91639"/>
            <a:ext cx="2926080" cy="320040"/>
          </a:xfrm>
          <a:prstGeom prst="rect">
            <a:avLst/>
          </a:prstGeom>
          <a:solidFill>
            <a:srgbClr val="1C7293"/>
          </a:solidFill>
          <a:ln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stream_crypto_prices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170992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Données streaming temps réel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103120"/>
            <a:ext cx="2926080" cy="320040"/>
          </a:xfrm>
          <a:prstGeom prst="rect">
            <a:avLst/>
          </a:prstGeom>
          <a:solidFill>
            <a:srgbClr val="1C7293"/>
          </a:solidFill>
          <a:ln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transform_hourly_avg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12140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Moyennes horaires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514600"/>
            <a:ext cx="2926080" cy="320040"/>
          </a:xfrm>
          <a:prstGeom prst="rect">
            <a:avLst/>
          </a:prstGeom>
          <a:solidFill>
            <a:srgbClr val="1C7293"/>
          </a:solidFill>
          <a:ln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transform_daily_ranking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253288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Classements journaliers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926080"/>
            <a:ext cx="2926080" cy="320040"/>
          </a:xfrm>
          <a:prstGeom prst="rect">
            <a:avLst/>
          </a:prstGeom>
          <a:solidFill>
            <a:srgbClr val="1C7293"/>
          </a:solidFill>
          <a:ln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spark_volatility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294436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Analyses volatilité (Spark SQL)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389120"/>
            <a:ext cx="8138160" cy="457200"/>
          </a:xfrm>
          <a:prstGeom prst="rect">
            <a:avLst/>
          </a:prstGeom>
          <a:solidFill>
            <a:srgbClr val="E8F4F8"/>
          </a:solidFill>
          <a:ln>
            <a:solidFill>
              <a:srgbClr val="E8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✓ Gratuit  ✓ Scalable  ✓ Serverless  ✓ Haute disponibilité  ✓ Sauvegarde auto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Étape 4: Transformation (Dual-Engine)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🐼 PANDAS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3840480" cy="457200"/>
          </a:xfrm>
          <a:prstGeom prst="rect">
            <a:avLst/>
          </a:prstGeom>
          <a:solidFill>
            <a:srgbClr val="1C7293"/>
          </a:solidFill>
          <a:ln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🐼 PANDAS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1188720"/>
            <a:ext cx="3840480" cy="457200"/>
          </a:xfrm>
          <a:prstGeom prst="rect">
            <a:avLst/>
          </a:prstGeom>
          <a:solidFill>
            <a:srgbClr val="00D4FF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⚡ PYSPARK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&lt; 50k lignes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Développement rapide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Efficace RAM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18288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≥ 50k lignes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21945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Scalable distribué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25603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Production-grade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5A82"/>
                </a:solidFill>
              </a:defRPr>
            </a:pPr>
            <a:r>
              <a:t>5 Transformations Implémentées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572000"/>
            <a:ext cx="79552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1️⃣ Nettoyage (suppression nulls, doublons, anomalies)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846320"/>
            <a:ext cx="79552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2️⃣ Moyenne horaire (agrégation par crypto/heure)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120640"/>
            <a:ext cx="79552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3️⃣ Classement journalier (Window Functions Spark)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394959"/>
            <a:ext cx="79552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4️⃣ Détection alertes (seuils ±5%)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669279"/>
            <a:ext cx="79552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5️⃣ Volume journalier (somme par crypto/jour)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Étape 5: Orchestration (Prefect + Railway)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3840480" cy="365760"/>
          </a:xfrm>
          <a:prstGeom prst="rect">
            <a:avLst/>
          </a:prstGeom>
          <a:solidFill>
            <a:srgbClr val="1C7293"/>
          </a:solidFill>
          <a:ln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Prefect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1. Créer tables PostgreSQL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2. Appeler API CoinGecko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3172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3. Sauvegarder brutes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4. Charger + Nettoyer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5. Transformation (Pandas/Spark)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9184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6. Analyses SQL avancées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61188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7. Rafraîchir dashboard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0" y="1188720"/>
            <a:ext cx="3840480" cy="365760"/>
          </a:xfrm>
          <a:prstGeom prst="rect">
            <a:avLst/>
          </a:prstGeom>
          <a:solidFill>
            <a:srgbClr val="00D4FF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Railway Deployment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169164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✓ Pipeline tourne 24/7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201168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✓ Exécution toutes les 10min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233172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✓ Gratuit ($5/mois crédit)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265176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✓ Logs en temps réel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297180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✓ Auto-restart en erreur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329184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✓ Scalable production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361188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✓ Zéro maintenance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Étape 6: Visualisation (Streamlit Cloud)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5A82"/>
                </a:solidFill>
              </a:defRPr>
            </a:pPr>
            <a:r>
              <a:t>5 Onglets Interactifs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2286000" cy="548640"/>
          </a:xfrm>
          <a:prstGeom prst="rect">
            <a:avLst/>
          </a:prstGeom>
          <a:solidFill>
            <a:srgbClr val="1C7293"/>
          </a:solidFill>
          <a:ln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📊 Vue d'ensemble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0" y="16459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KPI cards + Graphiques prix + Classement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240280"/>
            <a:ext cx="2286000" cy="548640"/>
          </a:xfrm>
          <a:prstGeom prst="rect">
            <a:avLst/>
          </a:prstGeom>
          <a:solidFill>
            <a:srgbClr val="1C7293"/>
          </a:solidFill>
          <a:ln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📈 Analyse technique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23317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Chandelier OHLC + Heatmap corrélation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926080"/>
            <a:ext cx="2286000" cy="548640"/>
          </a:xfrm>
          <a:prstGeom prst="rect">
            <a:avLst/>
          </a:prstGeom>
          <a:solidFill>
            <a:srgbClr val="1C7293"/>
          </a:solidFill>
          <a:ln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⚠️  Alertes &amp; Volume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30175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Volatilité + Volume journalier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611880"/>
            <a:ext cx="2286000" cy="548640"/>
          </a:xfrm>
          <a:prstGeom prst="rect">
            <a:avLst/>
          </a:prstGeom>
          <a:solidFill>
            <a:srgbClr val="1C7293"/>
          </a:solidFill>
          <a:ln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⚡ Streaming Kafka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37033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Flux temps réel + Distribution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297680"/>
            <a:ext cx="2286000" cy="548640"/>
          </a:xfrm>
          <a:prstGeom prst="rect">
            <a:avLst/>
          </a:prstGeom>
          <a:solidFill>
            <a:srgbClr val="1C7293"/>
          </a:solidFill>
          <a:ln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🔧 Spark Analytics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43891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Volatilité + Dominance marché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5303520"/>
            <a:ext cx="8138160" cy="731520"/>
          </a:xfrm>
          <a:prstGeom prst="rect">
            <a:avLst/>
          </a:prstGeom>
          <a:solidFill>
            <a:srgbClr val="00D4FF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🌐 Streamlit Cloud | 24/7 | Accessible | Auto-refresh 60s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Résultats Attendus vs Réalité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3749039" cy="365760"/>
          </a:xfrm>
          <a:prstGeom prst="rect">
            <a:avLst/>
          </a:prstGeom>
          <a:solidFill>
            <a:srgbClr val="E8F4F8"/>
          </a:solidFill>
          <a:ln>
            <a:solidFill>
              <a:srgbClr val="E8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65A82"/>
                </a:solidFill>
              </a:defRPr>
            </a:pPr>
            <a:r>
              <a:t>📊 ATTENDUS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✓ Pipeline ETL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✓ ~5,000 lignes/jour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31720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✓ Dual-Engine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51760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✓ 5 transformations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971800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✓ Dashboard interactive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291840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✓ Orchestration auto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611880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✓ Cloud deployment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37760" y="1234440"/>
            <a:ext cx="3566160" cy="365760"/>
          </a:xfrm>
          <a:prstGeom prst="rect">
            <a:avLst/>
          </a:prstGeom>
          <a:solidFill>
            <a:srgbClr val="E8F8E8"/>
          </a:solidFill>
          <a:ln>
            <a:solidFill>
              <a:srgbClr val="E8F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65A82"/>
                </a:solidFill>
              </a:defRPr>
            </a:pPr>
            <a:r>
              <a:t>✅ RÉALITÉ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1691640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✅ Pipeline complet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2011680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✅ 5,050 lignes stockées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2331720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✅ Dual-Engine opérationnel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2651760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✅ 5 transformations + 3 analyses SQL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2971800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✅ Dashboard 5 onglets (v2.1)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3291840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✅ Prefect + Railway 24/7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3611880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✅ Neon + Streamlit Cloud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Données de Sortie &amp; Métriques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3840480" cy="685800"/>
          </a:xfrm>
          <a:prstGeom prst="rect">
            <a:avLst/>
          </a:prstGeom>
          <a:solidFill>
            <a:srgbClr val="1C7293"/>
          </a:solidFill>
          <a:ln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🪙 Cryptos</a:t>
            </a:r>
            <a:br/>
            <a:r>
              <a:t>5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3840480" cy="685800"/>
          </a:xfrm>
          <a:prstGeom prst="rect">
            <a:avLst/>
          </a:prstGeom>
          <a:solidFill>
            <a:srgbClr val="1C7293"/>
          </a:solidFill>
          <a:ln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📊 Lignes/jour</a:t>
            </a:r>
            <a:br/>
            <a:r>
              <a:t>~5,000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834640"/>
            <a:ext cx="3840480" cy="685800"/>
          </a:xfrm>
          <a:prstGeom prst="rect">
            <a:avLst/>
          </a:prstGeom>
          <a:solidFill>
            <a:srgbClr val="1C7293"/>
          </a:solidFill>
          <a:ln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⏱️ Batch</a:t>
            </a:r>
            <a:br/>
            <a:r>
              <a:t>10 min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657600"/>
            <a:ext cx="3840480" cy="685800"/>
          </a:xfrm>
          <a:prstGeom prst="rect">
            <a:avLst/>
          </a:prstGeom>
          <a:solidFill>
            <a:srgbClr val="1C7293"/>
          </a:solidFill>
          <a:ln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⚡ Stream</a:t>
            </a:r>
            <a:br/>
            <a:r>
              <a:t>5 sec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0" y="1188720"/>
            <a:ext cx="3840480" cy="685800"/>
          </a:xfrm>
          <a:prstGeom prst="rect">
            <a:avLst/>
          </a:prstGeom>
          <a:solidFill>
            <a:srgbClr val="1C7293"/>
          </a:solidFill>
          <a:ln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🗄️ Tables</a:t>
            </a:r>
            <a:br/>
            <a:r>
              <a:t>8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0" y="2011680"/>
            <a:ext cx="3840480" cy="685800"/>
          </a:xfrm>
          <a:prstGeom prst="rect">
            <a:avLst/>
          </a:prstGeom>
          <a:solidFill>
            <a:srgbClr val="1C7293"/>
          </a:solidFill>
          <a:ln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🔄 Transform</a:t>
            </a:r>
            <a:br/>
            <a:r>
              <a:t>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2834640"/>
            <a:ext cx="3840480" cy="685800"/>
          </a:xfrm>
          <a:prstGeom prst="rect">
            <a:avLst/>
          </a:prstGeom>
          <a:solidFill>
            <a:srgbClr val="1C7293"/>
          </a:solidFill>
          <a:ln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🔧 Analyses</a:t>
            </a:r>
            <a:br/>
            <a:r>
              <a:t>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0" y="3657600"/>
            <a:ext cx="3840480" cy="685800"/>
          </a:xfrm>
          <a:prstGeom prst="rect">
            <a:avLst/>
          </a:prstGeom>
          <a:solidFill>
            <a:srgbClr val="1C7293"/>
          </a:solidFill>
          <a:ln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✅ Uptime</a:t>
            </a:r>
            <a:br/>
            <a:r>
              <a:t>24/7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0D4FF"/>
                </a:solidFill>
              </a:defRPr>
            </a:pPr>
            <a:r>
              <a:t>Pipeline Data Engineering Production-Ready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F5F5F5"/>
                </a:solidFill>
              </a:defRPr>
            </a:pPr>
            <a:r>
              <a:t>Asma Sebai | ING2 - Semestre 2 | Avril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